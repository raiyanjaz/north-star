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7394e45e5248a0" /><Relationship Type="http://schemas.openxmlformats.org/officeDocument/2006/relationships/extended-properties" Target="/docProps/app.xml" Id="R596f3137cf804e88" /><Relationship Type="http://schemas.openxmlformats.org/officeDocument/2006/relationships/officeDocument" Target="/ppt/presentation.xml" Id="Rabc263c2570643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03b3f3c09c43e3"/>
  </p:sldMasterIdLst>
  <p:notesMasterIdLst>
    <p:notesMasterId xmlns:r="http://schemas.openxmlformats.org/officeDocument/2006/relationships" r:id="Rdc54564985e546d6"/>
  </p:notesMasterIdLst>
  <p:sldIdLst>
    <p:sldId xmlns:r="http://schemas.openxmlformats.org/officeDocument/2006/relationships" id="256" r:id="Rd04a4133859f4f44"/>
    <p:sldId xmlns:r="http://schemas.openxmlformats.org/officeDocument/2006/relationships" id="257" r:id="R5f2a754b1dc24975"/>
    <p:sldId xmlns:r="http://schemas.openxmlformats.org/officeDocument/2006/relationships" id="258" r:id="R8f1f5af69aaf4d57"/>
    <p:sldId xmlns:r="http://schemas.openxmlformats.org/officeDocument/2006/relationships" id="259" r:id="R983adf1ea7d54d84"/>
    <p:sldId xmlns:r="http://schemas.openxmlformats.org/officeDocument/2006/relationships" id="260" r:id="R46c66aeff7d54cfd"/>
    <p:sldId xmlns:r="http://schemas.openxmlformats.org/officeDocument/2006/relationships" id="261" r:id="R1c8efbfce17a444a"/>
    <p:sldId xmlns:r="http://schemas.openxmlformats.org/officeDocument/2006/relationships" id="262" r:id="R4620d83db28b4bad"/>
    <p:sldId xmlns:r="http://schemas.openxmlformats.org/officeDocument/2006/relationships" id="263" r:id="R90219eb08ad140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894c3cdeab4191" /><Relationship Type="http://schemas.openxmlformats.org/officeDocument/2006/relationships/slideMaster" Target="/ppt/slideMasters/slideMaster1.xml" Id="R8203b3f3c09c43e3" /><Relationship Type="http://schemas.openxmlformats.org/officeDocument/2006/relationships/notesMaster" Target="/ppt/notesMasters/notesMaster1.xml" Id="Rdc54564985e546d6" /><Relationship Type="http://schemas.openxmlformats.org/officeDocument/2006/relationships/presProps" Target="/ppt/presProps.xml" Id="R1c44feb9cc154a03" /><Relationship Type="http://schemas.openxmlformats.org/officeDocument/2006/relationships/tableStyles" Target="/ppt/tableStyles.xml" Id="R8f2cca7076da40e2" /><Relationship Type="http://schemas.openxmlformats.org/officeDocument/2006/relationships/slide" Target="/ppt/slides/slide1.xml" Id="Rd04a4133859f4f44" /><Relationship Type="http://schemas.openxmlformats.org/officeDocument/2006/relationships/slide" Target="/ppt/slides/slide2.xml" Id="R5f2a754b1dc24975" /><Relationship Type="http://schemas.openxmlformats.org/officeDocument/2006/relationships/slide" Target="/ppt/slides/slide3.xml" Id="R8f1f5af69aaf4d57" /><Relationship Type="http://schemas.openxmlformats.org/officeDocument/2006/relationships/slide" Target="/ppt/slides/slide4.xml" Id="R983adf1ea7d54d84" /><Relationship Type="http://schemas.openxmlformats.org/officeDocument/2006/relationships/slide" Target="/ppt/slides/slide5.xml" Id="R46c66aeff7d54cfd" /><Relationship Type="http://schemas.openxmlformats.org/officeDocument/2006/relationships/slide" Target="/ppt/slides/slide6.xml" Id="R1c8efbfce17a444a" /><Relationship Type="http://schemas.openxmlformats.org/officeDocument/2006/relationships/slide" Target="/ppt/slides/slide7.xml" Id="R4620d83db28b4bad" /><Relationship Type="http://schemas.openxmlformats.org/officeDocument/2006/relationships/slide" Target="/ppt/slides/slide8.xml" Id="R90219eb08ad140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c52e3d4b4f46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1f318b8b14b3e" /><Relationship Type="http://schemas.openxmlformats.org/officeDocument/2006/relationships/notesMaster" Target="/ppt/notesMasters/notesMaster1.xml" Id="R0330849d408043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5af413a47d4d3c" /><Relationship Type="http://schemas.openxmlformats.org/officeDocument/2006/relationships/notesMaster" Target="/ppt/notesMasters/notesMaster1.xml" Id="R6a966324ed21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fbbb82952f4cfd" /><Relationship Type="http://schemas.openxmlformats.org/officeDocument/2006/relationships/notesMaster" Target="/ppt/notesMasters/notesMaster1.xml" Id="Rb0cc13c1adcb44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5caf367b1e418e" /><Relationship Type="http://schemas.openxmlformats.org/officeDocument/2006/relationships/notesMaster" Target="/ppt/notesMasters/notesMaster1.xml" Id="R4a7fb079067e4a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99ca9aa7e4f0b" /><Relationship Type="http://schemas.openxmlformats.org/officeDocument/2006/relationships/notesMaster" Target="/ppt/notesMasters/notesMaster1.xml" Id="R198e5377a39240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e2957bfa9b4f3c" /><Relationship Type="http://schemas.openxmlformats.org/officeDocument/2006/relationships/notesMaster" Target="/ppt/notesMasters/notesMaster1.xml" Id="Rcdbcdcdead374e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d122e020c448b" /><Relationship Type="http://schemas.openxmlformats.org/officeDocument/2006/relationships/notesMaster" Target="/ppt/notesMasters/notesMaster1.xml" Id="R5cd6284c163c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58c35a68a04add" /><Relationship Type="http://schemas.openxmlformats.org/officeDocument/2006/relationships/notesMaster" Target="/ppt/notesMasters/notesMaster1.xml" Id="R5df7b1fe06b440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Decision-support simulation. Operational data and incident requirements are synthetic. Primary track: The Agent That Can Explain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problem statement, not a quantified clinical-impact claim. Operational precedent: https://www.juvare.ca/emresource/ . No claim that a hospital-status dashboard is a new category.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application screenshot. Basemap: City of Toronto Centreline, Open Government Licence Toronto. https://gis.toronto.ca/arcgis/rest/services/cot_geospatial/MapServer/2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architecture diagram. Implemented source: app.py, decision.py, integrations.py, scripts/world-model.mjs. The actual World Model reference is vendored from Meterless commit 1742dec56a66e58eef9dda2d2b865823758ca8cd. SQLite is not claimed as a Meterless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in actual acceptance test. The prior proposal is rejected if approved after scenario version changes. ARC excludes routes that cross the closure circle and chooses a remaining feasible pair. It does not compute a closure-aware detour. Driving estimates are not ambulance 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Integration evidence view, artifacts/live-validation.json, artifacts/world-model-conformance.txt. Sources: https://meterless.ai/engines.html and https://github.com/Meterless/Meterless/tree/1742dec56a66e58eef9dda2d2b865823758ca8cd/engines/world-model . No standalone provider connectivity test is represented as engine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Checks include 21 Python tests and 8 workspace behavior tests for queue ordering, evidence expiry and incident-bound background results. They cover constraints, alternatives, state transitions, citation/tool validation and real World Model persistence. Live acceptance exercises actual product APIs, sponsors, closure reassessment and approval. Results in artifacts/checks.txt and artifacts/live-validation.json. No production accuracy or saved-lives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track: The Agent That Can Explain Why. Clinical validity, real emergency response and traffic-aware ambulance ETAs are not established. Cursor rule conflict remains a team action before submission. Never claim full eligibility before resolving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20dc7635c4b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1816017134c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d30c2f03e49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71376f11a4b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b8afdb87042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f1953dd2f42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0A5061-F64C-45C8-903C-4E3400592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3976C7-57BB-4271-BE76-F3B9E888BC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46C4BD-7042-4917-A364-9FFD3F498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DA45AD-D152-4EE7-ADD1-78A38E748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254CEB-4ADD-4BAF-99EE-B40ED28A74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3512C1-D354-42C8-AE97-1FFF9FDDA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BF4672-B480-4E65-8BF7-5EC7BDC4E1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FDC199-6B2C-432B-BDF5-85C0B3F49C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A8377D-5132-40D1-A1FD-195BE63B30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24B1E-C416-4168-9122-A96C1444F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682c32108f4c1e" /><Relationship Type="http://schemas.openxmlformats.org/officeDocument/2006/relationships/slideLayout" Target="/ppt/slideLayouts/slideLayout1.xml" Id="R31627e0d956b4fde" /><Relationship Type="http://schemas.openxmlformats.org/officeDocument/2006/relationships/slideLayout" Target="/ppt/slideLayouts/slideLayout2.xml" Id="R0a22f670d1b44da4" /><Relationship Type="http://schemas.openxmlformats.org/officeDocument/2006/relationships/slideLayout" Target="/ppt/slideLayouts/slideLayout3.xml" Id="Rdd933619c44d4a5e" /><Relationship Type="http://schemas.openxmlformats.org/officeDocument/2006/relationships/slideLayout" Target="/ppt/slideLayouts/slideLayout4.xml" Id="R1170bcc0dd854baa" /><Relationship Type="http://schemas.openxmlformats.org/officeDocument/2006/relationships/slideLayout" Target="/ppt/slideLayouts/slideLayout5.xml" Id="R8506281a604b4b1e" /><Relationship Type="http://schemas.openxmlformats.org/officeDocument/2006/relationships/slideLayout" Target="/ppt/slideLayouts/slideLayout6.xml" Id="R32a5ddc84bf342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627e0d956b4fde"/>
    <p:sldLayoutId xmlns:r="http://schemas.openxmlformats.org/officeDocument/2006/relationships" id="2147483650" r:id="R0a22f670d1b44da4"/>
    <p:sldLayoutId xmlns:r="http://schemas.openxmlformats.org/officeDocument/2006/relationships" id="2147483651" r:id="Rdd933619c44d4a5e"/>
    <p:sldLayoutId xmlns:r="http://schemas.openxmlformats.org/officeDocument/2006/relationships" id="2147483652" r:id="R1170bcc0dd854baa"/>
    <p:sldLayoutId xmlns:r="http://schemas.openxmlformats.org/officeDocument/2006/relationships" id="2147483653" r:id="R8506281a604b4b1e"/>
    <p:sldLayoutId xmlns:r="http://schemas.openxmlformats.org/officeDocument/2006/relationships" id="2147483654" r:id="R32a5ddc84bf342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ae3f282de4bca" /><Relationship Type="http://schemas.openxmlformats.org/officeDocument/2006/relationships/notesSlide" Target="/ppt/notesSlides/notesSlide1.xml" Id="Rcb0ab414cb3848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9356610af49d0" /><Relationship Type="http://schemas.openxmlformats.org/officeDocument/2006/relationships/notesSlide" Target="/ppt/notesSlides/notesSlide2.xml" Id="R0124511ab5964a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f42b9b3d941b7" /><Relationship Type="http://schemas.openxmlformats.org/officeDocument/2006/relationships/image" Target="/ppt/media/image.jpeg" Id="R8fee707ce8d347c5" /><Relationship Type="http://schemas.openxmlformats.org/officeDocument/2006/relationships/notesSlide" Target="/ppt/notesSlides/notesSlide3.xml" Id="Rbbc78c40af3547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a991153394d66" /><Relationship Type="http://schemas.openxmlformats.org/officeDocument/2006/relationships/notesSlide" Target="/ppt/notesSlides/notesSlide4.xml" Id="Rc01990564fc74b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70e8d604b4125" /><Relationship Type="http://schemas.openxmlformats.org/officeDocument/2006/relationships/notesSlide" Target="/ppt/notesSlides/notesSlide5.xml" Id="Rd336413d2a1940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ab457299140db" /><Relationship Type="http://schemas.openxmlformats.org/officeDocument/2006/relationships/notesSlide" Target="/ppt/notesSlides/notesSlide6.xml" Id="R78725b72b38a4b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80a2440044194" /><Relationship Type="http://schemas.openxmlformats.org/officeDocument/2006/relationships/notesSlide" Target="/ppt/notesSlides/notesSlide7.xml" Id="R819abc8f4b1644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cae33ac934705" /><Relationship Type="http://schemas.openxmlformats.org/officeDocument/2006/relationships/notesSlide" Target="/ppt/notesSlides/notesSlide8.xml" Id="Rb671589b1c7a4f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31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B6DD6-6B9F-44A3-A05E-A609985E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AA191-FEE0-4F40-8FED-0F37DE9A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Assisted Routing &amp; Coordination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3F3E1-CAB6-46A3-B4E7-9ADBDBF8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7E8"/>
                </a:solidFill>
                <a:latin typeface="Arial"/>
                <a:ea typeface="Arial"/>
                <a:cs typeface="Arial"/>
              </a:rPr>
              <a:t>Explainable emergency-response coordination</a:t>
            </a:r>
          </a:p>
          <a:p xmlns:a="http://schemas.openxmlformats.org/drawingml/2006/main">
            <a: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7E8"/>
                </a:solidFill>
                <a:latin typeface="Arial"/>
                <a:ea typeface="Arial"/>
                <a:cs typeface="Arial"/>
              </a:rPr>
              <a:t>for a Toronto dispatcher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99561-5EDB-4210-99DA-0344BAF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BB6E6"/>
                </a:solidFill>
                <a:latin typeface="Arial"/>
                <a:ea typeface="Arial"/>
                <a:cs typeface="Arial"/>
              </a:rPr>
              <a:t>NorthStar · Open Agent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380984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791E4-24E8-4A0C-9B1A-9ECBC6F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The dispatcher’s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F1DE6-3B97-47A0-B18D-47F669AE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29834-6EAC-4227-97C4-43957DEB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6711A-8DC3-454F-B392-3498D18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Which available unit can serve this incident,</a:t>
            </a:r>
          </a:p>
          <a:p xmlns:a="http://schemas.openxmlformats.org/drawingml/2006/main">
            <a: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and which appropriate destination can receive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4F2BD-B880-4E31-A7CC-0F9FDCF3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Availability, destination operations and roads arrive through different feeds.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4BBAC-CA76-4D96-AD25-356B482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A recommendation needs its supporting evidence and rejected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96308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97BBA-3252-41A2-861A-F172C503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The ARC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3011E-EB19-4430-8FF4-271AC98D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517B4-1DD6-43DF-86DC-D0D6F0A2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49D4D-F376-48DE-9AE1-7E0BC040C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e707ce8d347c5"/>
          <a:stretch xmlns:a="http://schemas.openxmlformats.org/drawingml/2006/main"/>
        </p:blipFill>
        <p:spPr>
          <a:xfrm xmlns:a="http://schemas.openxmlformats.org/drawingml/2006/main">
            <a:off x="2590800" y="1381125"/>
            <a:ext cx="70104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5F949-7F1F-470B-9817-B520AEFE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Synthetic operations are labelled. Toronto street geometry is cached locally.</a:t>
            </a:r>
          </a:p>
        </p:txBody>
      </p:sp>
    </p:spTree>
    <p:extLst>
      <p:ext uri="{BB962C8B-B14F-4D97-AF65-F5344CB8AC3E}">
        <p14:creationId xmlns:p14="http://schemas.microsoft.com/office/powerpoint/2010/main" val="1744421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C68DED-5D34-41B2-973B-8A747CB6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Agent workflow and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D9515-BF0C-4BC6-8285-9EE5BF48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12B3E-F36E-49CA-9783-ADFFF72B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9465A-59FB-44C8-8095-575713AB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7ACD7-88F3-409E-A65A-16BEB961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Nemotron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0B1C1-C2CD-4B47-86F4-D0E4A208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Select evidence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F4D08-E7A5-4AE9-94FC-0895D8E7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146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40F54-16C5-481D-A314-4212F5C5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52C52-B866-4612-B958-A8CA811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C20C4-8896-4A9B-9380-6A32A057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Federate distinct feeds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B3AF1-67DD-40B9-98ED-8C248CD2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146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C4E8C-D1AB-4138-A631-B1F32446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AC3BC-0A2C-4459-8F1C-D7D792A1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Explicit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73E1E-C0E5-4848-BDD4-46BC63D1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Check eligibility +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36257-BBEA-4819-A43A-5F847FCD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5146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DD8F2-FB74-4A66-82D0-E7B59E06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E43C5-F355-4531-B01A-6C023A1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Nemotron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94853-9A5A-4000-A5D9-FBFD00E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Compose cited explanation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4DE3A-170A-44A6-A035-651256B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146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B2C77-E770-4829-8993-56E3B1CD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EB5B5-9E01-4883-94A4-1CB48CBC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Dispatcher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76A6F-3678-49C2-A999-49A8E88F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Approve exact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62CF1-C102-4415-99D2-83A960E7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Meterless World Model retains typed resource history and recommendation relationships.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04174-B785-4C73-B2A9-090C1DF5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SQLite reserves resources atomically after approval. OSRM calculates both driving legs.</a:t>
            </a:r>
          </a:p>
        </p:txBody>
      </p:sp>
    </p:spTree>
    <p:extLst>
      <p:ext uri="{BB962C8B-B14F-4D97-AF65-F5344CB8AC3E}">
        <p14:creationId xmlns:p14="http://schemas.microsoft.com/office/powerpoint/2010/main" val="993900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F0E11-3474-45B2-A760-D0B92BBD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A changed condition requires a new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1B575-4561-4377-AAF5-09B79FC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3ED7D-35EA-4234-B78A-600B513C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31873-A46B-46BA-919F-BD97F75C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15931-D9C1-48F4-B31F-8D0B525A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Medic 12 to St. Michael’s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26A01-C29E-4140-BD1C-839A8488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A simulated closure crosses the destination approach.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8CC45-0B1D-4F4A-A246-304D5AA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Reassessment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FB111-E4DC-4DE5-B148-1F505661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Medic 12 to Toronto General</a:t>
            </a:r>
          </a:p>
        </p:txBody>
      </p:sp>
    </p:spTree>
    <p:extLst>
      <p:ext uri="{BB962C8B-B14F-4D97-AF65-F5344CB8AC3E}">
        <p14:creationId xmlns:p14="http://schemas.microsoft.com/office/powerpoint/2010/main" val="1762907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E07DA-2835-4EB5-B117-31E4FAE6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Sponsor technology in the working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27C42-18AE-4B7F-B1FF-A7F6C2DA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A446F-A172-4498-85C5-82136731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D057E-5A4B-455A-8754-C2CBF9CA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D14E1-D178-43E7-9A4D-FF7228E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One product query combines fleet, hospital operations and closure REST sources.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B64EB-2D17-4B07-8DDF-C73F3DC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Nightshift + NVIDIA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B009D-DE03-436A-B8CA-4A756574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Nemotron selects evidence tools and cited explanation facts. Runtime receipts identify the winning NVIDIA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1A3DF-76D4-49D4-B7CF-950CA1B7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Meterless World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740F5-58C0-4FEA-BDE9-C3430C2C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Actual upstream reference persists typed entities, provenance and relationships. Prior state explains resource changes.</a:t>
            </a:r>
          </a:p>
        </p:txBody>
      </p:sp>
    </p:spTree>
    <p:extLst>
      <p:ext uri="{BB962C8B-B14F-4D97-AF65-F5344CB8AC3E}">
        <p14:creationId xmlns:p14="http://schemas.microsoft.com/office/powerpoint/2010/main" val="660660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9DD23-4718-41A2-B84A-7AD4BCE8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Verification and failure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84C36-60C6-4B74-88E4-17C36E4B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B7F6E-FFFB-48DE-B85E-B65AFD20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8FE0C-09D8-442F-B6A5-2A202494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9D813-9F7C-4FF8-BFAF-E40F1356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decision and workspace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34BDE-17DF-4A12-BF59-D739CEA4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DB5CB-6B94-4DF9-978D-134745A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1462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upstream engine conformance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3E301-CAA1-49C6-AAB2-3812CF0B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Changed or expired evidence blocks approval. Concurrent proposals cannot reserve the same unavailable unit.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AB8F6-0AFA-47B6-888A-53097250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Stale data, no destination and integration failures produce explicit blocked states.</a:t>
            </a:r>
          </a:p>
        </p:txBody>
      </p:sp>
    </p:spTree>
    <p:extLst>
      <p:ext uri="{BB962C8B-B14F-4D97-AF65-F5344CB8AC3E}">
        <p14:creationId xmlns:p14="http://schemas.microsoft.com/office/powerpoint/2010/main" val="727623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32D5A-04AB-43EA-B075-47FA8ED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What the prototype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EA2CA-BEFC-4A39-A675-0C6B4D91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E8BC4-EC49-4D97-A37F-8B9D2C2E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4B62A-DFC5-4383-901D-7A08FFA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A dispatcher can inspect, challenge and approve</a:t>
            </a:r>
          </a:p>
          <a:p xmlns:a="http://schemas.openxmlformats.org/drawingml/2006/main">
            <a: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a recommendation tied to the evidence used.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490F8-7A2D-4469-81D1-AB34D8F9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Current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98509-EE2E-469F-AA9C-7BADF67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Toronto simulation. Synthetic operational feeds. Static road-network estimates. Human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53840-AD31-4248-B95A-28F501A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80D27-FA70-4587-8F6E-DC6667DE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Dispatcher interviews, authorized live feeds, validated protocols and production access controls.</a:t>
            </a:r>
          </a:p>
        </p:txBody>
      </p:sp>
    </p:spTree>
    <p:extLst>
      <p:ext uri="{BB962C8B-B14F-4D97-AF65-F5344CB8AC3E}">
        <p14:creationId xmlns:p14="http://schemas.microsoft.com/office/powerpoint/2010/main" val="1892689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2026-10-23T03:54:07.9590000Z</dcterms:created>
  <dcterms:modified xsi:type="dcterms:W3CDTF">2026-10-23T03:54:07.9590000Z</dcterms:modified>
</coreProperties>
</file>