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719e7b93c4c9e" /><Relationship Type="http://schemas.openxmlformats.org/officeDocument/2006/relationships/extended-properties" Target="/docProps/app.xml" Id="Rc55ac0018a8d426a" /><Relationship Type="http://schemas.openxmlformats.org/officeDocument/2006/relationships/officeDocument" Target="/ppt/presentation.xml" Id="R566f2d60aba8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f1c9544f84a58"/>
  </p:sldMasterIdLst>
  <p:notesMasterIdLst>
    <p:notesMasterId xmlns:r="http://schemas.openxmlformats.org/officeDocument/2006/relationships" r:id="R206d4177af494dfd"/>
  </p:notesMasterIdLst>
  <p:sldIdLst>
    <p:sldId xmlns:r="http://schemas.openxmlformats.org/officeDocument/2006/relationships" id="256" r:id="Re5e3946931ac47fb"/>
    <p:sldId xmlns:r="http://schemas.openxmlformats.org/officeDocument/2006/relationships" id="257" r:id="R1c697184f2a44f2b"/>
    <p:sldId xmlns:r="http://schemas.openxmlformats.org/officeDocument/2006/relationships" id="258" r:id="Rda054234c0db4c88"/>
    <p:sldId xmlns:r="http://schemas.openxmlformats.org/officeDocument/2006/relationships" id="259" r:id="R34bd19b552554608"/>
    <p:sldId xmlns:r="http://schemas.openxmlformats.org/officeDocument/2006/relationships" id="260" r:id="Re436d0536b314a2f"/>
    <p:sldId xmlns:r="http://schemas.openxmlformats.org/officeDocument/2006/relationships" id="261" r:id="Rc99d6df12a95429e"/>
    <p:sldId xmlns:r="http://schemas.openxmlformats.org/officeDocument/2006/relationships" id="262" r:id="R13e27d9ee1744eb3"/>
    <p:sldId xmlns:r="http://schemas.openxmlformats.org/officeDocument/2006/relationships" id="263" r:id="R39129390ed494c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53d69d6d34dbd" /><Relationship Type="http://schemas.openxmlformats.org/officeDocument/2006/relationships/slideMaster" Target="/ppt/slideMasters/slideMaster1.xml" Id="Rcf4f1c9544f84a58" /><Relationship Type="http://schemas.openxmlformats.org/officeDocument/2006/relationships/notesMaster" Target="/ppt/notesMasters/notesMaster1.xml" Id="R206d4177af494dfd" /><Relationship Type="http://schemas.openxmlformats.org/officeDocument/2006/relationships/presProps" Target="/ppt/presProps.xml" Id="Re7f6529c720840b0" /><Relationship Type="http://schemas.openxmlformats.org/officeDocument/2006/relationships/tableStyles" Target="/ppt/tableStyles.xml" Id="R570c43aeb47447ad" /><Relationship Type="http://schemas.openxmlformats.org/officeDocument/2006/relationships/slide" Target="/ppt/slides/slide1.xml" Id="Re5e3946931ac47fb" /><Relationship Type="http://schemas.openxmlformats.org/officeDocument/2006/relationships/slide" Target="/ppt/slides/slide2.xml" Id="R1c697184f2a44f2b" /><Relationship Type="http://schemas.openxmlformats.org/officeDocument/2006/relationships/slide" Target="/ppt/slides/slide3.xml" Id="Rda054234c0db4c88" /><Relationship Type="http://schemas.openxmlformats.org/officeDocument/2006/relationships/slide" Target="/ppt/slides/slide4.xml" Id="R34bd19b552554608" /><Relationship Type="http://schemas.openxmlformats.org/officeDocument/2006/relationships/slide" Target="/ppt/slides/slide5.xml" Id="Re436d0536b314a2f" /><Relationship Type="http://schemas.openxmlformats.org/officeDocument/2006/relationships/slide" Target="/ppt/slides/slide6.xml" Id="Rc99d6df12a95429e" /><Relationship Type="http://schemas.openxmlformats.org/officeDocument/2006/relationships/slide" Target="/ppt/slides/slide7.xml" Id="R13e27d9ee1744eb3" /><Relationship Type="http://schemas.openxmlformats.org/officeDocument/2006/relationships/slide" Target="/ppt/slides/slide8.xml" Id="R39129390ed49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3db8f9f70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fd716cc6e64528" /><Relationship Type="http://schemas.openxmlformats.org/officeDocument/2006/relationships/notesMaster" Target="/ppt/notesMasters/notesMaster1.xml" Id="R62c4fb77178249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43537efe6430a" /><Relationship Type="http://schemas.openxmlformats.org/officeDocument/2006/relationships/notesMaster" Target="/ppt/notesMasters/notesMaster1.xml" Id="R52b96bfc8d9a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39870af74443fb" /><Relationship Type="http://schemas.openxmlformats.org/officeDocument/2006/relationships/notesMaster" Target="/ppt/notesMasters/notesMaster1.xml" Id="R7edb29117322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27538c3dcf4b37" /><Relationship Type="http://schemas.openxmlformats.org/officeDocument/2006/relationships/notesMaster" Target="/ppt/notesMasters/notesMaster1.xml" Id="R85acac2652c1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1dbab12c64082" /><Relationship Type="http://schemas.openxmlformats.org/officeDocument/2006/relationships/notesMaster" Target="/ppt/notesMasters/notesMaster1.xml" Id="Rcfac311a5ea6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4d2f44d1254f55" /><Relationship Type="http://schemas.openxmlformats.org/officeDocument/2006/relationships/notesMaster" Target="/ppt/notesMasters/notesMaster1.xml" Id="R518d4716ecf84a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80cdfc89804f70" /><Relationship Type="http://schemas.openxmlformats.org/officeDocument/2006/relationships/notesMaster" Target="/ppt/notesMasters/notesMaster1.xml" Id="Ra0b4f40da74143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143541ff7b42ab" /><Relationship Type="http://schemas.openxmlformats.org/officeDocument/2006/relationships/notesMaster" Target="/ppt/notesMasters/notesMaster1.xml" Id="Ra9a81dfeea8e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Decision-support simulation. Operational data and incident requirements are synthetic. Primary track: The Agent That Can Explain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problem statement, not a quantified clinical-impact claim. Operational precedent: https://www.juvare.ca/emresource/ . No claim that a hospital-status dashboard is a new category.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application screenshot. Basemap: City of Toronto Centreline, Open Government Licence Toronto. https://gis.toronto.ca/arcgis/rest/services/cot_geospatial/MapServer/2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 diagram. Implemented source: app.py, decision.py, integrations.py, scripts/world-model.mjs. The actual World Model reference is vendored from Meterless commit 1742dec56a66e58eef9dda2d2b865823758ca8cd. SQLite is not claimed as a Meterless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in actual acceptance test. The prior proposal is rejected if approved after scenario version changes. ARC excludes routes that cross the closure circle and chooses a remaining feasible pair. It does not compute a closure-aware detour. Driving estimates are not ambulance 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Integration evidence view, artifacts/live-validation.json, artifacts/world-model-conformance.txt. Sources: https://meterless.ai/engines.html and https://github.com/Meterless/Meterless/tree/1742dec56a66e58eef9dda2d2b865823758ca8cd/engines/world-model . No standalone provider connectivity test is represented as engine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tests cover constraints, state transitions, citation/tool validation and real World Model persistence. Live acceptance exercises actual product APIs, sponsors, closure reassessment and approval. Results in artifacts/checks.txt and artifacts/live-validation.json. No production accuracy or saved-lives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track: The Agent That Can Explain Why. Clinical validity, real emergency response and traffic-aware ambulance ETAs are not established. Cursor rule conflict remains a team action before submission. Never claim full eligibility before resolving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875f865854a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162c7846141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7eb4ad56146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a76b1301745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0f8ffcb034e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853207bdb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B5487-7105-46E9-ADF0-54F12F2EF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EE9C2E-7B05-472C-B70C-15C92A36FD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98AE25-ADC6-4723-B707-0A41D1A6F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7F874-A25E-4E65-9D52-E29A98D7E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56BDC9-6303-41E1-9017-F592FDF811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CD2C3B-4BFE-49A8-979C-5A2B28020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967C65-5B8B-4CC6-93B8-81AD85F796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D0CA45-0218-43AB-907D-97C4CC4797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13C36B-45CB-45AB-98A1-F06FE0752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B6539-A63D-47E6-93B6-5E29D4D95F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6d4f31759f499a" /><Relationship Type="http://schemas.openxmlformats.org/officeDocument/2006/relationships/slideLayout" Target="/ppt/slideLayouts/slideLayout1.xml" Id="Rd21c19ac0d1143fc" /><Relationship Type="http://schemas.openxmlformats.org/officeDocument/2006/relationships/slideLayout" Target="/ppt/slideLayouts/slideLayout2.xml" Id="Rea48759655704dc2" /><Relationship Type="http://schemas.openxmlformats.org/officeDocument/2006/relationships/slideLayout" Target="/ppt/slideLayouts/slideLayout3.xml" Id="R0d306afb1a0e482a" /><Relationship Type="http://schemas.openxmlformats.org/officeDocument/2006/relationships/slideLayout" Target="/ppt/slideLayouts/slideLayout4.xml" Id="Rb7335fedb0864e8c" /><Relationship Type="http://schemas.openxmlformats.org/officeDocument/2006/relationships/slideLayout" Target="/ppt/slideLayouts/slideLayout5.xml" Id="R280de5890cc5499c" /><Relationship Type="http://schemas.openxmlformats.org/officeDocument/2006/relationships/slideLayout" Target="/ppt/slideLayouts/slideLayout6.xml" Id="R1551378d8222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c19ac0d1143fc"/>
    <p:sldLayoutId xmlns:r="http://schemas.openxmlformats.org/officeDocument/2006/relationships" id="2147483650" r:id="Rea48759655704dc2"/>
    <p:sldLayoutId xmlns:r="http://schemas.openxmlformats.org/officeDocument/2006/relationships" id="2147483651" r:id="R0d306afb1a0e482a"/>
    <p:sldLayoutId xmlns:r="http://schemas.openxmlformats.org/officeDocument/2006/relationships" id="2147483652" r:id="Rb7335fedb0864e8c"/>
    <p:sldLayoutId xmlns:r="http://schemas.openxmlformats.org/officeDocument/2006/relationships" id="2147483653" r:id="R280de5890cc5499c"/>
    <p:sldLayoutId xmlns:r="http://schemas.openxmlformats.org/officeDocument/2006/relationships" id="2147483654" r:id="R1551378d8222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4804849a940f5" /><Relationship Type="http://schemas.openxmlformats.org/officeDocument/2006/relationships/notesSlide" Target="/ppt/notesSlides/notesSlide1.xml" Id="R145bc492239248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02e55eba3445d" /><Relationship Type="http://schemas.openxmlformats.org/officeDocument/2006/relationships/notesSlide" Target="/ppt/notesSlides/notesSlide2.xml" Id="Rbfc64692fa77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ff9fa0e7f4457" /><Relationship Type="http://schemas.openxmlformats.org/officeDocument/2006/relationships/image" Target="/ppt/media/image.jpeg" Id="R295df4c8d476444a" /><Relationship Type="http://schemas.openxmlformats.org/officeDocument/2006/relationships/notesSlide" Target="/ppt/notesSlides/notesSlide3.xml" Id="Rc9bb438914ac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5e7c9e9ce454b" /><Relationship Type="http://schemas.openxmlformats.org/officeDocument/2006/relationships/notesSlide" Target="/ppt/notesSlides/notesSlide4.xml" Id="R94991d80bab1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36924697b42d4" /><Relationship Type="http://schemas.openxmlformats.org/officeDocument/2006/relationships/notesSlide" Target="/ppt/notesSlides/notesSlide5.xml" Id="R03b96506723e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132e55fbd4cd9" /><Relationship Type="http://schemas.openxmlformats.org/officeDocument/2006/relationships/notesSlide" Target="/ppt/notesSlides/notesSlide6.xml" Id="Rf1474b0bb55b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e7be0084d4008" /><Relationship Type="http://schemas.openxmlformats.org/officeDocument/2006/relationships/notesSlide" Target="/ppt/notesSlides/notesSlide7.xml" Id="R6984a97550c64b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84f75353a4ca3" /><Relationship Type="http://schemas.openxmlformats.org/officeDocument/2006/relationships/notesSlide" Target="/ppt/notesSlides/notesSlide8.xml" Id="R5b1a8771aa79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1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74245-2D04-4003-A401-C4D73F2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001A-449E-48AA-A2D3-BAC51DC4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Assisted Routing &amp;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A0852-B60F-410F-9DC6-CEF6547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7E8"/>
                </a:solidFill>
                <a:latin typeface="Arial"/>
                <a:ea typeface="Arial"/>
                <a:cs typeface="Arial"/>
              </a:rPr>
              <a:t>Explainable emergency-response coordination</a:t>
            </a:r>
          </a:p>
          <a:p xmlns:a="http://schemas.openxmlformats.org/drawingml/2006/main">
            <a:pPr>
              <a:defRPr sz="2175" b="0">
                <a:solidFill>
                  <a:srgbClr val="CBD7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7E8"/>
                </a:solidFill>
                <a:latin typeface="Arial"/>
                <a:ea typeface="Arial"/>
                <a:cs typeface="Arial"/>
              </a:rPr>
              <a:t>for a Toronto dispatcher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AB415-AF30-4006-9794-49AC3938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BB6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BB6E6"/>
                </a:solidFill>
                <a:latin typeface="Arial"/>
                <a:ea typeface="Arial"/>
                <a:cs typeface="Arial"/>
              </a:rPr>
              <a:t>NorthStar · 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862171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6604-5F2E-41EA-ABD6-0D7987F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The dispatcher’s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1796C-3CFB-4F5B-99CA-2C194C9A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1FB27-94C8-4704-AC86-7193D123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AE3DB-95EF-4699-B9C4-C20BFB5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Which available unit can serve this incident,</a:t>
            </a:r>
          </a:p>
          <a:p xmlns:a="http://schemas.openxmlformats.org/drawingml/2006/main">
            <a:pPr>
              <a:defRPr sz="28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and which appropriate destination can receive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E2ABD-7A2B-4D0A-B56D-9627A15D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Availability, destination operations and roads arrive through different feeds.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0FACB-8D03-4E16-AD0C-C17424D0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 recommendation needs its supporting evidence and rejected alternatives.</a:t>
            </a:r>
          </a:p>
        </p:txBody>
      </p:sp>
    </p:spTree>
    <p:extLst>
      <p:ext uri="{BB962C8B-B14F-4D97-AF65-F5344CB8AC3E}">
        <p14:creationId xmlns:p14="http://schemas.microsoft.com/office/powerpoint/2010/main" val="413587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83B02-99B1-4438-A4F9-63966A8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The ARC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416EB-FBC5-4213-86CF-8472CD0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48BE7-2F53-43F5-8067-77C232DF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44AC3-03DC-4EB6-9A0D-E97D2D1E4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df4c8d476444a"/>
          <a:stretch xmlns:a="http://schemas.openxmlformats.org/drawingml/2006/main"/>
        </p:blipFill>
        <p:spPr>
          <a:xfrm xmlns:a="http://schemas.openxmlformats.org/drawingml/2006/main">
            <a:off x="2201333" y="1381125"/>
            <a:ext cx="7789333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0C1A-2271-4AEE-9462-2BECB4E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Synthetic operations are labelled. Toronto street geometry is cached locally.</a:t>
            </a:r>
          </a:p>
        </p:txBody>
      </p:sp>
    </p:spTree>
    <p:extLst>
      <p:ext uri="{BB962C8B-B14F-4D97-AF65-F5344CB8AC3E}">
        <p14:creationId xmlns:p14="http://schemas.microsoft.com/office/powerpoint/2010/main" val="1211087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84D4C-06B6-4768-A9C3-C927FB57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Agent workflow 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E5D48-CE40-49AB-85A4-C10494B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A638E-FF30-4DC8-B857-57175F4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67D98-F474-4C2E-8B58-9FB9695D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27F1D-ED40-4F88-BCDF-47E1AD3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8E566-EE9E-4D74-AA24-CB4DF39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Select evidence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D4F6-CD0D-4711-97C2-CD697B8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AE913-AE26-42E9-9D05-0123DAF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8EEFE-EA9E-4379-A2E8-7932F8C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0B353-6C9D-4E88-AD39-38F8EEA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Federate distinct feeds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9FC7-377B-4856-9CB7-1537CD60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C8841-B3A9-4077-9E17-2D7E1A2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6B2E2-459A-4DF2-9BD1-DB23B0A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Explicit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7DDDA-8BAE-4D7F-A99A-110C622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Check eligibility +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2AF8B-273B-425E-B585-640A325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94651-7B57-4A14-B35E-45416286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258D9-5DA7-401E-B7D3-0CD0977A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875C3-6AE2-4A92-893B-5553D0B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Compose cited explanation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1563A-EA43-4900-B83A-5A69E1D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A21F8-A709-42C6-8EDE-818AA18C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E7982-E6E1-4EB6-AB0F-DA84A68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28875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Dispatcher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C4672-318E-4584-92F4-8708827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9087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Approve exact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82045-6543-4E59-AF05-1A587DB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Meterless World Model retains typed resource history and recommendation relationships.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38345-CFF9-42DB-85E3-DD4AFE4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SQLite reserves resources atomically after approval. OSRM calculates both driving legs.</a:t>
            </a:r>
          </a:p>
        </p:txBody>
      </p:sp>
    </p:spTree>
    <p:extLst>
      <p:ext uri="{BB962C8B-B14F-4D97-AF65-F5344CB8AC3E}">
        <p14:creationId xmlns:p14="http://schemas.microsoft.com/office/powerpoint/2010/main" val="1056657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0634C-4B92-45FD-BF9A-6C7C289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A changed condition requires a new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E0E80-E8DA-46C3-8993-985D185E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FD2E-1BD3-4F8B-8971-884D56F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082E-90AE-4616-B952-FF96B37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39EA-E430-4257-84B6-A6FC746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Medic 12 to St. Michael’s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DFB88-4E15-40D0-80AF-2BE180C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264DF"/>
                </a:solidFill>
                <a:latin typeface="Arial"/>
                <a:ea typeface="Arial"/>
                <a:cs typeface="Arial"/>
              </a:rPr>
              <a:t>A simulated closure crosses the destination approach.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48949-5315-4646-A2E5-C967FA4D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Reassessment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D5339-6381-4414-9B1F-32FB266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Medic 12 to Toronto General</a:t>
            </a:r>
          </a:p>
        </p:txBody>
      </p:sp>
    </p:spTree>
    <p:extLst>
      <p:ext uri="{BB962C8B-B14F-4D97-AF65-F5344CB8AC3E}">
        <p14:creationId xmlns:p14="http://schemas.microsoft.com/office/powerpoint/2010/main" val="781925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9BB58-AC7C-487D-BE0D-BEC6757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Sponsor technology in the working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97713-61A8-4193-86B1-7EFD687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66BD-B640-4D3C-ADA2-942801C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E2984-6C15-4C60-B0AD-22EE61B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CC99-977E-424A-9AFD-4FB6419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One product query combines fleet, hospital operations and closure REST 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4CF02-6487-4F29-9A5F-92664822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Nightshift + NVIDIA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23EC7-1530-4779-A1FE-8A7D7C62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Nemotron selects evidence tools and cited explanation facts. Runtime receipts identify the winning NVIDIA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E917-7049-43DB-98D0-64F7F3D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Meterless World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3A05B-5932-41D1-9552-461891C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Actual upstream reference persists typed entities, provenance and relationships. Prior state explains resource changes.</a:t>
            </a:r>
          </a:p>
        </p:txBody>
      </p:sp>
    </p:spTree>
    <p:extLst>
      <p:ext uri="{BB962C8B-B14F-4D97-AF65-F5344CB8AC3E}">
        <p14:creationId xmlns:p14="http://schemas.microsoft.com/office/powerpoint/2010/main" val="1178218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5527E-24F3-4F15-B64B-6751F101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Verification and failure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4EC21-2CD4-4D77-83A4-3AE629F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AE61-B900-486B-8602-0C952AE9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947F8-C18C-4189-9584-00C80C7F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E1311-7C97-4239-BD41-5BC57B6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application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3A159-EBC7-49CA-879A-065023E8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47483-0301-467C-9CA4-FAA29DA2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upstream engine conformance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38966-7698-4A8B-A80F-7AA1E61D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Changed or expired evidence blocks approval. Concurrent proposals cannot reserve the same unavailable unit.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CA08F-1F94-4A43-AC40-643594E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Stale data, no destination and integration failures produce explicit blocked states.</a:t>
            </a:r>
          </a:p>
        </p:txBody>
      </p:sp>
    </p:spTree>
    <p:extLst>
      <p:ext uri="{BB962C8B-B14F-4D97-AF65-F5344CB8AC3E}">
        <p14:creationId xmlns:p14="http://schemas.microsoft.com/office/powerpoint/2010/main" val="13481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11732-ACAA-4E61-B263-13E4E99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3148"/>
                </a:solidFill>
                <a:latin typeface="Arial"/>
                <a:ea typeface="Arial"/>
                <a:cs typeface="Arial"/>
              </a:rPr>
              <a:t>What the prototype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356CC-16D8-4855-929C-7BA2C77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ARC / NorthStar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D8E20-B6E3-449E-A40A-297F7F3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3611A-B379-4CF0-9E25-018C740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 dispatcher can inspect, challenge and approve</a:t>
            </a:r>
          </a:p>
          <a:p xmlns:a="http://schemas.openxmlformats.org/drawingml/2006/main">
            <a:pPr>
              <a:defRPr sz="2925" b="1">
                <a:solidFill>
                  <a:srgbClr val="3264D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264DF"/>
                </a:solidFill>
                <a:latin typeface="Arial"/>
                <a:ea typeface="Arial"/>
                <a:cs typeface="Arial"/>
              </a:rPr>
              <a:t>a recommendation tied to the evidence 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AEA0E-5474-428D-8A1C-88C3DE1D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F1BFD-83FE-4CE8-8589-6B593F3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Toronto simulation. Synthetic operational feeds. Static road-network estimates. Human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F5C6A-FEDC-4CE8-9A35-A0F1842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0819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8198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72A41-1BB2-4B85-B65B-DC20892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52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1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148"/>
                </a:solidFill>
                <a:latin typeface="Arial"/>
                <a:ea typeface="Arial"/>
                <a:cs typeface="Arial"/>
              </a:rPr>
              <a:t>Dispatcher interviews, authorized live feeds, validated protocols and production access controls.</a:t>
            </a:r>
          </a:p>
        </p:txBody>
      </p:sp>
    </p:spTree>
    <p:extLst>
      <p:ext uri="{BB962C8B-B14F-4D97-AF65-F5344CB8AC3E}">
        <p14:creationId xmlns:p14="http://schemas.microsoft.com/office/powerpoint/2010/main" val="1662711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2026-10-23T01:30:33.6210000Z</dcterms:created>
  <dcterms:modified xsi:type="dcterms:W3CDTF">2026-10-23T01:30:33.6210000Z</dcterms:modified>
</coreProperties>
</file>